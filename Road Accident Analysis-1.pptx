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6" r:id="rId1"/>
  </p:sldMasterIdLst>
  <p:notesMasterIdLst>
    <p:notesMasterId r:id="rId10"/>
  </p:notes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F6F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44" y="2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HP\Documents\Copy%20of%20Etang_Data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HP\Documents\Copy%20of%20Etang_Data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HP\Documents\Copy%20of%20Etang_Data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Speed Limit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Frequency</c:v>
          </c:tx>
          <c:invertIfNegative val="0"/>
          <c:cat>
            <c:numRef>
              <c:f>'Speed limit'!$K$9:$K$14</c:f>
              <c:numCache>
                <c:formatCode>General</c:formatCode>
                <c:ptCount val="6"/>
                <c:pt idx="0">
                  <c:v>20</c:v>
                </c:pt>
                <c:pt idx="1">
                  <c:v>31</c:v>
                </c:pt>
                <c:pt idx="2">
                  <c:v>42</c:v>
                </c:pt>
                <c:pt idx="3">
                  <c:v>53</c:v>
                </c:pt>
                <c:pt idx="4">
                  <c:v>64</c:v>
                </c:pt>
                <c:pt idx="5">
                  <c:v>75</c:v>
                </c:pt>
              </c:numCache>
            </c:numRef>
          </c:cat>
          <c:val>
            <c:numRef>
              <c:f>'Speed limit'!$L$9:$L$14</c:f>
              <c:numCache>
                <c:formatCode>General</c:formatCode>
                <c:ptCount val="6"/>
                <c:pt idx="0">
                  <c:v>2904</c:v>
                </c:pt>
                <c:pt idx="1">
                  <c:v>200039</c:v>
                </c:pt>
                <c:pt idx="2">
                  <c:v>25650</c:v>
                </c:pt>
                <c:pt idx="3">
                  <c:v>10190</c:v>
                </c:pt>
                <c:pt idx="4">
                  <c:v>46826</c:v>
                </c:pt>
                <c:pt idx="5">
                  <c:v>22362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AF-4B40-8486-A2F726DA87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1185759"/>
        <c:axId val="121179103"/>
      </c:barChart>
      <c:catAx>
        <c:axId val="121185759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21179103"/>
        <c:crosses val="autoZero"/>
        <c:auto val="1"/>
        <c:lblAlgn val="ctr"/>
        <c:lblOffset val="100"/>
        <c:noMultiLvlLbl val="0"/>
      </c:catAx>
      <c:valAx>
        <c:axId val="121179103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Frequency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21185759"/>
        <c:crosses val="autoZero"/>
        <c:crossBetween val="between"/>
      </c:valAx>
    </c:plotArea>
    <c:plotVisOnly val="1"/>
    <c:dispBlanksAs val="gap"/>
    <c:showDLblsOverMax val="0"/>
  </c:chart>
  <c:spPr>
    <a:ln>
      <a:solidFill>
        <a:schemeClr val="tx1"/>
      </a:solidFill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Number of Vehicles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Frequency</c:v>
          </c:tx>
          <c:invertIfNegative val="0"/>
          <c:cat>
            <c:numRef>
              <c:f>'Number of Vehicles'!$K$7:$K$14</c:f>
              <c:numCache>
                <c:formatCode>General</c:formatCode>
                <c:ptCount val="8"/>
                <c:pt idx="0">
                  <c:v>4.0999999999999996</c:v>
                </c:pt>
                <c:pt idx="1">
                  <c:v>8.1999999999999993</c:v>
                </c:pt>
                <c:pt idx="2">
                  <c:v>12.299999999999999</c:v>
                </c:pt>
                <c:pt idx="3">
                  <c:v>16.399999999999999</c:v>
                </c:pt>
                <c:pt idx="4">
                  <c:v>20.5</c:v>
                </c:pt>
                <c:pt idx="5">
                  <c:v>24.6</c:v>
                </c:pt>
                <c:pt idx="6">
                  <c:v>28.700000000000003</c:v>
                </c:pt>
                <c:pt idx="7">
                  <c:v>32.800000000000004</c:v>
                </c:pt>
              </c:numCache>
            </c:numRef>
          </c:cat>
          <c:val>
            <c:numRef>
              <c:f>'Number of Vehicles'!$L$7:$L$14</c:f>
              <c:numCache>
                <c:formatCode>General</c:formatCode>
                <c:ptCount val="8"/>
                <c:pt idx="0">
                  <c:v>306245</c:v>
                </c:pt>
                <c:pt idx="1">
                  <c:v>1663</c:v>
                </c:pt>
                <c:pt idx="2">
                  <c:v>53</c:v>
                </c:pt>
                <c:pt idx="3">
                  <c:v>8</c:v>
                </c:pt>
                <c:pt idx="4">
                  <c:v>1</c:v>
                </c:pt>
                <c:pt idx="5">
                  <c:v>0</c:v>
                </c:pt>
                <c:pt idx="6">
                  <c:v>0</c:v>
                </c:pt>
                <c:pt idx="7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ED-4BE6-9257-E37844CA69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55622815"/>
        <c:axId val="2055623647"/>
      </c:barChart>
      <c:catAx>
        <c:axId val="2055622815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055623647"/>
        <c:crosses val="autoZero"/>
        <c:auto val="1"/>
        <c:lblAlgn val="ctr"/>
        <c:lblOffset val="100"/>
        <c:noMultiLvlLbl val="0"/>
      </c:catAx>
      <c:valAx>
        <c:axId val="2055623647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Frequency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055622815"/>
        <c:crosses val="autoZero"/>
        <c:crossBetween val="between"/>
      </c:valAx>
    </c:plotArea>
    <c:plotVisOnly val="1"/>
    <c:dispBlanksAs val="gap"/>
    <c:showDLblsOverMax val="0"/>
  </c:chart>
  <c:spPr>
    <a:ln>
      <a:solidFill>
        <a:schemeClr val="tx1"/>
      </a:solidFill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Number of Casualties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Frequency</c:v>
          </c:tx>
          <c:invertIfNegative val="0"/>
          <c:cat>
            <c:numRef>
              <c:f>'Number of Casualties'!$N$12:$N$20</c:f>
              <c:numCache>
                <c:formatCode>General</c:formatCode>
                <c:ptCount val="9"/>
                <c:pt idx="0">
                  <c:v>5.7</c:v>
                </c:pt>
                <c:pt idx="1">
                  <c:v>11.4</c:v>
                </c:pt>
                <c:pt idx="2">
                  <c:v>17.100000000000001</c:v>
                </c:pt>
                <c:pt idx="3">
                  <c:v>22.8</c:v>
                </c:pt>
                <c:pt idx="4">
                  <c:v>28.5</c:v>
                </c:pt>
                <c:pt idx="5">
                  <c:v>34.200000000000003</c:v>
                </c:pt>
                <c:pt idx="6">
                  <c:v>39.900000000000006</c:v>
                </c:pt>
                <c:pt idx="7">
                  <c:v>45.600000000000009</c:v>
                </c:pt>
                <c:pt idx="8">
                  <c:v>51.300000000000011</c:v>
                </c:pt>
              </c:numCache>
            </c:numRef>
          </c:cat>
          <c:val>
            <c:numRef>
              <c:f>'Number of Casualties'!$O$12:$O$20</c:f>
              <c:numCache>
                <c:formatCode>General</c:formatCode>
                <c:ptCount val="9"/>
                <c:pt idx="0">
                  <c:v>306761</c:v>
                </c:pt>
                <c:pt idx="1">
                  <c:v>1149</c:v>
                </c:pt>
                <c:pt idx="2">
                  <c:v>44</c:v>
                </c:pt>
                <c:pt idx="3">
                  <c:v>9</c:v>
                </c:pt>
                <c:pt idx="4">
                  <c:v>4</c:v>
                </c:pt>
                <c:pt idx="5">
                  <c:v>0</c:v>
                </c:pt>
                <c:pt idx="6">
                  <c:v>0</c:v>
                </c:pt>
                <c:pt idx="7">
                  <c:v>3</c:v>
                </c:pt>
                <c:pt idx="8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A3-4A71-877D-2E5803B781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55625311"/>
        <c:axId val="2055625727"/>
      </c:barChart>
      <c:catAx>
        <c:axId val="2055625311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055625727"/>
        <c:crosses val="autoZero"/>
        <c:auto val="1"/>
        <c:lblAlgn val="ctr"/>
        <c:lblOffset val="100"/>
        <c:noMultiLvlLbl val="0"/>
      </c:catAx>
      <c:valAx>
        <c:axId val="2055625727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Frequency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055625311"/>
        <c:crosses val="autoZero"/>
        <c:crossBetween val="between"/>
      </c:valAx>
    </c:plotArea>
    <c:plotVisOnly val="1"/>
    <c:dispBlanksAs val="gap"/>
    <c:showDLblsOverMax val="0"/>
  </c:chart>
  <c:spPr>
    <a:ln>
      <a:solidFill>
        <a:schemeClr val="tx1"/>
      </a:solidFill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01EA1D-14BF-4D5C-9676-1F0132E1D110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14FB74-D509-44B9-BC63-645933915C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046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E2FEEF5A-7372-4EA1-8E9C-09FAE8A11672}" type="datetime1">
              <a:rPr lang="en-US" smtClean="0"/>
              <a:t>6/26/2025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372223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5B787-4D9B-4983-B546-7E0B024A42AB}" type="datetime1">
              <a:rPr lang="en-US" smtClean="0"/>
              <a:t>6/26/2025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9698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A06D5-C7E9-48D7-B61E-C4FFDD6B735E}" type="datetime1">
              <a:rPr lang="en-US" smtClean="0"/>
              <a:t>6/26/2025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46420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305E2-442A-421A-8A50-57D492123E8C}" type="datetime1">
              <a:rPr lang="en-US" smtClean="0"/>
              <a:t>6/26/2025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031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86CB7-653F-4588-82C3-73FEF69BCA56}" type="datetime1">
              <a:rPr lang="en-US" smtClean="0"/>
              <a:t>6/26/2025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715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69A34-17C3-4E16-8B66-8B1BA8FEB4FB}" type="datetime1">
              <a:rPr lang="en-US" smtClean="0"/>
              <a:t>6/26/2025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270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4FB34-E371-47E5-9B3D-35127E9B3AE4}" type="datetime1">
              <a:rPr lang="en-US" smtClean="0"/>
              <a:t>6/26/2025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923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26100-D112-4FE8-A270-AF9920F0B7CE}" type="datetime1">
              <a:rPr lang="en-US" smtClean="0"/>
              <a:t>6/26/2025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1431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9B699-5C72-44C7-9F7F-764B48A16763}" type="datetime1">
              <a:rPr lang="en-US" smtClean="0"/>
              <a:t>6/26/2025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974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87549-55A4-40FB-AEF4-7FCE0453E33E}" type="datetime1">
              <a:rPr lang="en-US" smtClean="0"/>
              <a:t>6/26/2025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045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E8641-2544-43E8-9917-E933803BB00A}" type="datetime1">
              <a:rPr lang="en-US" smtClean="0"/>
              <a:t>6/26/2025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48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C091E116-E4E2-4B0E-8025-8C27B7F7E995}" type="datetime1">
              <a:rPr lang="en-US" smtClean="0"/>
              <a:t>6/26/2025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3079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Road Accident Analysis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GROUP: FEATURE ENGINEERS</a:t>
            </a:r>
          </a:p>
          <a:p>
            <a:r>
              <a:rPr lang="en-US" dirty="0" smtClean="0"/>
              <a:t>CAPSTONE PROJECT </a:t>
            </a:r>
          </a:p>
          <a:p>
            <a:r>
              <a:rPr lang="en-US" dirty="0" smtClean="0"/>
              <a:t>28/06/2025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046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aims to analyze the various factors influencing road accidents and their severity, in order to support data-driven decisions that enhance road safety, inform policy, and </a:t>
            </a:r>
            <a:r>
              <a:rPr lang="en-US" dirty="0" smtClean="0"/>
              <a:t>improve </a:t>
            </a:r>
            <a:r>
              <a:rPr lang="en-US" dirty="0"/>
              <a:t>resource allocation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The key-variables to be analyzed include: </a:t>
            </a:r>
          </a:p>
          <a:p>
            <a:r>
              <a:rPr lang="en-US" dirty="0" smtClean="0"/>
              <a:t>Number of Casualties</a:t>
            </a:r>
          </a:p>
          <a:p>
            <a:r>
              <a:rPr lang="en-US" dirty="0" smtClean="0"/>
              <a:t>Speed Limit</a:t>
            </a:r>
          </a:p>
          <a:p>
            <a:r>
              <a:rPr lang="en-US" dirty="0" smtClean="0"/>
              <a:t>Number of Vehicles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E97799C9-84D9-46D2-A11E-BCF8A720529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245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Statistical Analysis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7026201"/>
              </p:ext>
            </p:extLst>
          </p:nvPr>
        </p:nvGraphicFramePr>
        <p:xfrm>
          <a:off x="1262063" y="1828798"/>
          <a:ext cx="9533318" cy="22588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3024">
                  <a:extLst>
                    <a:ext uri="{9D8B030D-6E8A-4147-A177-3AD203B41FA5}">
                      <a16:colId xmlns:a16="http://schemas.microsoft.com/office/drawing/2014/main" val="2827299077"/>
                    </a:ext>
                  </a:extLst>
                </a:gridCol>
                <a:gridCol w="1501253">
                  <a:extLst>
                    <a:ext uri="{9D8B030D-6E8A-4147-A177-3AD203B41FA5}">
                      <a16:colId xmlns:a16="http://schemas.microsoft.com/office/drawing/2014/main" val="2228516709"/>
                    </a:ext>
                  </a:extLst>
                </a:gridCol>
                <a:gridCol w="1187356">
                  <a:extLst>
                    <a:ext uri="{9D8B030D-6E8A-4147-A177-3AD203B41FA5}">
                      <a16:colId xmlns:a16="http://schemas.microsoft.com/office/drawing/2014/main" val="1004736716"/>
                    </a:ext>
                  </a:extLst>
                </a:gridCol>
                <a:gridCol w="1241946">
                  <a:extLst>
                    <a:ext uri="{9D8B030D-6E8A-4147-A177-3AD203B41FA5}">
                      <a16:colId xmlns:a16="http://schemas.microsoft.com/office/drawing/2014/main" val="2936645808"/>
                    </a:ext>
                  </a:extLst>
                </a:gridCol>
                <a:gridCol w="1473958">
                  <a:extLst>
                    <a:ext uri="{9D8B030D-6E8A-4147-A177-3AD203B41FA5}">
                      <a16:colId xmlns:a16="http://schemas.microsoft.com/office/drawing/2014/main" val="3552468881"/>
                    </a:ext>
                  </a:extLst>
                </a:gridCol>
                <a:gridCol w="2565781">
                  <a:extLst>
                    <a:ext uri="{9D8B030D-6E8A-4147-A177-3AD203B41FA5}">
                      <a16:colId xmlns:a16="http://schemas.microsoft.com/office/drawing/2014/main" val="460540684"/>
                    </a:ext>
                  </a:extLst>
                </a:gridCol>
              </a:tblGrid>
              <a:tr h="489347">
                <a:tc>
                  <a:txBody>
                    <a:bodyPr/>
                    <a:lstStyle/>
                    <a:p>
                      <a:r>
                        <a:rPr lang="en-US" dirty="0" smtClean="0"/>
                        <a:t>Variable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Mean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Median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Mode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Range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Standard Deviation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4621701"/>
                  </a:ext>
                </a:extLst>
              </a:tr>
              <a:tr h="620279">
                <a:tc>
                  <a:txBody>
                    <a:bodyPr/>
                    <a:lstStyle/>
                    <a:p>
                      <a:r>
                        <a:rPr lang="en-US" dirty="0" smtClean="0"/>
                        <a:t>Number of Casualties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3890830"/>
                  </a:ext>
                </a:extLst>
              </a:tr>
              <a:tr h="489345">
                <a:tc>
                  <a:txBody>
                    <a:bodyPr/>
                    <a:lstStyle/>
                    <a:p>
                      <a:r>
                        <a:rPr lang="en-US" dirty="0" smtClean="0"/>
                        <a:t>Speed 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38.87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14.03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2575754"/>
                  </a:ext>
                </a:extLst>
              </a:tr>
              <a:tr h="620279">
                <a:tc>
                  <a:txBody>
                    <a:bodyPr/>
                    <a:lstStyle/>
                    <a:p>
                      <a:r>
                        <a:rPr lang="en-US" dirty="0" smtClean="0"/>
                        <a:t>Number of Vehicles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1.83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0.71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707756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E97799C9-84D9-46D2-A11E-BCF8A720529D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865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1261872" y="1524061"/>
            <a:ext cx="9204032" cy="5174913"/>
          </a:xfrm>
          <a:prstGeom prst="rect">
            <a:avLst/>
          </a:prstGeom>
          <a:solidFill>
            <a:srgbClr val="6F6F74">
              <a:alpha val="509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190417"/>
            <a:ext cx="9692640" cy="1325562"/>
          </a:xfrm>
        </p:spPr>
        <p:txBody>
          <a:bodyPr>
            <a:normAutofit/>
          </a:bodyPr>
          <a:lstStyle/>
          <a:p>
            <a:r>
              <a:rPr lang="en-US" sz="3800" dirty="0" smtClean="0"/>
              <a:t>Skewness of Variables: Right-Skewed</a:t>
            </a:r>
            <a:endParaRPr lang="en-US" sz="3800" dirty="0"/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E97799C9-84D9-46D2-A11E-BCF8A720529D}" type="slidenum">
              <a:rPr lang="en-US" smtClean="0"/>
              <a:t>4</a:t>
            </a:fld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167908"/>
              </p:ext>
            </p:extLst>
          </p:nvPr>
        </p:nvGraphicFramePr>
        <p:xfrm>
          <a:off x="1261871" y="1524059"/>
          <a:ext cx="4378533" cy="2579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Chart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61328"/>
              </p:ext>
            </p:extLst>
          </p:nvPr>
        </p:nvGraphicFramePr>
        <p:xfrm>
          <a:off x="6131293" y="1515978"/>
          <a:ext cx="4334611" cy="25874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Chart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70762382"/>
              </p:ext>
            </p:extLst>
          </p:nvPr>
        </p:nvGraphicFramePr>
        <p:xfrm>
          <a:off x="3538383" y="4103432"/>
          <a:ext cx="4692650" cy="25955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559267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Dashboard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7259" y="1982804"/>
            <a:ext cx="10741793" cy="3965608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E97799C9-84D9-46D2-A11E-BCF8A720529D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4199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Data-Driven Recommendations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2069432"/>
            <a:ext cx="8595360" cy="3917482"/>
          </a:xfrm>
        </p:spPr>
        <p:txBody>
          <a:bodyPr>
            <a:normAutofit fontScale="92500"/>
          </a:bodyPr>
          <a:lstStyle/>
          <a:p>
            <a:r>
              <a:rPr lang="en-US" sz="1600" b="1" dirty="0" smtClean="0"/>
              <a:t>Increase Safety Measures in Peak Accident Hours: </a:t>
            </a:r>
            <a:r>
              <a:rPr lang="en-US" sz="1600" dirty="0" smtClean="0"/>
              <a:t>Accidents peak at 5 PM, which coincides with post-work traffic. Tiredness and reduced attention may be a contributing factor.</a:t>
            </a:r>
          </a:p>
          <a:p>
            <a:pPr lvl="1"/>
            <a:r>
              <a:rPr lang="en-US" dirty="0" smtClean="0"/>
              <a:t>Launch </a:t>
            </a:r>
            <a:r>
              <a:rPr lang="en-US" dirty="0"/>
              <a:t>radio awareness </a:t>
            </a:r>
            <a:r>
              <a:rPr lang="en-US" dirty="0" smtClean="0"/>
              <a:t>programs </a:t>
            </a:r>
            <a:r>
              <a:rPr lang="en-US" dirty="0"/>
              <a:t>between 4:30–6:00 PM to remind drivers to stay alert.</a:t>
            </a:r>
            <a:endParaRPr lang="en-US" dirty="0" smtClean="0"/>
          </a:p>
          <a:p>
            <a:pPr lvl="1"/>
            <a:r>
              <a:rPr lang="en-US" dirty="0" smtClean="0"/>
              <a:t>Patrol units should be deployed to improve traffic flow management during these hours.</a:t>
            </a:r>
          </a:p>
          <a:p>
            <a:r>
              <a:rPr lang="en-US" sz="1600" b="1" dirty="0" smtClean="0"/>
              <a:t>Enhance Speed Control in 30mph Zones: </a:t>
            </a:r>
            <a:r>
              <a:rPr lang="en-US" sz="1600" dirty="0" smtClean="0"/>
              <a:t>Roads with 30mph speed limits recorded the highest number of accidents</a:t>
            </a:r>
            <a:r>
              <a:rPr lang="en-US" sz="1600" dirty="0"/>
              <a:t>. These are often found in residential or semi-urban areas.</a:t>
            </a:r>
            <a:endParaRPr lang="en-US" sz="1600" dirty="0" smtClean="0"/>
          </a:p>
          <a:p>
            <a:pPr lvl="1"/>
            <a:r>
              <a:rPr lang="en-US" dirty="0" smtClean="0"/>
              <a:t>Construct </a:t>
            </a:r>
            <a:r>
              <a:rPr lang="en-US" dirty="0"/>
              <a:t>speed bumps to </a:t>
            </a:r>
            <a:r>
              <a:rPr lang="en-US" dirty="0" smtClean="0"/>
              <a:t>slow </a:t>
            </a:r>
            <a:r>
              <a:rPr lang="en-US" dirty="0"/>
              <a:t>down </a:t>
            </a:r>
            <a:r>
              <a:rPr lang="en-US" dirty="0" smtClean="0"/>
              <a:t>vehicles.</a:t>
            </a:r>
          </a:p>
          <a:p>
            <a:pPr lvl="1"/>
            <a:r>
              <a:rPr lang="en-US" dirty="0" smtClean="0"/>
              <a:t>Introduce more traffic </a:t>
            </a:r>
            <a:r>
              <a:rPr lang="en-US" dirty="0"/>
              <a:t>lights and “give way” </a:t>
            </a:r>
            <a:r>
              <a:rPr lang="en-US" dirty="0" smtClean="0"/>
              <a:t>signs at junctions.</a:t>
            </a:r>
          </a:p>
          <a:p>
            <a:pPr lvl="1"/>
            <a:r>
              <a:rPr lang="en-US" dirty="0" smtClean="0"/>
              <a:t>Add zebra </a:t>
            </a:r>
            <a:r>
              <a:rPr lang="en-US" dirty="0"/>
              <a:t>crossings </a:t>
            </a:r>
            <a:r>
              <a:rPr lang="en-US" dirty="0" smtClean="0"/>
              <a:t>for pedestrians.</a:t>
            </a:r>
            <a:endParaRPr lang="en-US" dirty="0"/>
          </a:p>
          <a:p>
            <a:r>
              <a:rPr lang="en-US" sz="1600" b="1" dirty="0" smtClean="0"/>
              <a:t>Improve Infrastructure in Wet Conditions: </a:t>
            </a:r>
            <a:r>
              <a:rPr lang="en-US" sz="1600" dirty="0"/>
              <a:t>Over 81,000 accidents occurred on wet roads, and 12,000 on icy surfaces.</a:t>
            </a:r>
            <a:r>
              <a:rPr lang="en-US" sz="1600" b="1" dirty="0" smtClean="0"/>
              <a:t> </a:t>
            </a:r>
          </a:p>
          <a:p>
            <a:pPr lvl="1"/>
            <a:r>
              <a:rPr lang="en-US" dirty="0" smtClean="0"/>
              <a:t>Enhance drainage systems, </a:t>
            </a:r>
            <a:r>
              <a:rPr lang="en-US" dirty="0"/>
              <a:t>install warning signs, and promote cautious driving in rainy weather.</a:t>
            </a:r>
            <a:endParaRPr lang="en-US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E97799C9-84D9-46D2-A11E-BCF8A720529D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5170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identified important patterns in accident severity, timing, weather conditions, and speed limits using thorough statistical analysis and visualization</a:t>
            </a:r>
            <a:r>
              <a:rPr lang="en-US" dirty="0" smtClean="0"/>
              <a:t>.</a:t>
            </a:r>
          </a:p>
          <a:p>
            <a:r>
              <a:rPr lang="en-US" dirty="0"/>
              <a:t>Our dashboard and recommendations are </a:t>
            </a:r>
            <a:r>
              <a:rPr lang="en-US" dirty="0" smtClean="0"/>
              <a:t>intended </a:t>
            </a:r>
            <a:r>
              <a:rPr lang="en-US" dirty="0"/>
              <a:t>to support data-driven decisions that not only improve road safety policies, but also </a:t>
            </a:r>
            <a:r>
              <a:rPr lang="en-US" dirty="0" smtClean="0"/>
              <a:t>save </a:t>
            </a:r>
            <a:r>
              <a:rPr lang="en-US" dirty="0"/>
              <a:t>lives through better planning and </a:t>
            </a:r>
            <a:r>
              <a:rPr lang="en-US" dirty="0" smtClean="0"/>
              <a:t>awareness.</a:t>
            </a:r>
          </a:p>
          <a:p>
            <a:r>
              <a:rPr lang="en-US" dirty="0" smtClean="0"/>
              <a:t>They </a:t>
            </a:r>
            <a:r>
              <a:rPr lang="en-US" dirty="0"/>
              <a:t>can also serve as a foundation for stakeholders </a:t>
            </a:r>
            <a:r>
              <a:rPr lang="en-US" dirty="0" smtClean="0"/>
              <a:t>to </a:t>
            </a:r>
            <a:r>
              <a:rPr lang="en-US" dirty="0"/>
              <a:t>conduct further studies on </a:t>
            </a:r>
            <a:r>
              <a:rPr lang="en-US" dirty="0" smtClean="0"/>
              <a:t>how to prevent </a:t>
            </a:r>
            <a:r>
              <a:rPr lang="en-US" dirty="0"/>
              <a:t>road traffic accidents in the future.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E97799C9-84D9-46D2-A11E-BCF8A720529D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28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2091" y="2505111"/>
            <a:ext cx="9692640" cy="1325562"/>
          </a:xfrm>
        </p:spPr>
        <p:txBody>
          <a:bodyPr/>
          <a:lstStyle/>
          <a:p>
            <a:pPr algn="ctr"/>
            <a:r>
              <a:rPr lang="en-US" dirty="0" smtClean="0"/>
              <a:t>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E97799C9-84D9-46D2-A11E-BCF8A720529D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599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iew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382</TotalTime>
  <Words>348</Words>
  <Application>Microsoft Office PowerPoint</Application>
  <PresentationFormat>Widescreen</PresentationFormat>
  <Paragraphs>67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Century Schoolbook</vt:lpstr>
      <vt:lpstr>Wingdings 2</vt:lpstr>
      <vt:lpstr>View</vt:lpstr>
      <vt:lpstr>Road Accident Analysis</vt:lpstr>
      <vt:lpstr>Introduction</vt:lpstr>
      <vt:lpstr>Statistical Analysis</vt:lpstr>
      <vt:lpstr>Skewness of Variables: Right-Skewed</vt:lpstr>
      <vt:lpstr>Dashboard</vt:lpstr>
      <vt:lpstr>Data-Driven Recommendations</vt:lpstr>
      <vt:lpstr>Conclusion</vt:lpstr>
      <vt:lpstr>Thank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 Accident Analysis</dc:title>
  <dc:creator>Windows User</dc:creator>
  <cp:lastModifiedBy>Windows User</cp:lastModifiedBy>
  <cp:revision>29</cp:revision>
  <dcterms:created xsi:type="dcterms:W3CDTF">2025-06-25T21:20:26Z</dcterms:created>
  <dcterms:modified xsi:type="dcterms:W3CDTF">2025-06-26T18:49:49Z</dcterms:modified>
</cp:coreProperties>
</file>